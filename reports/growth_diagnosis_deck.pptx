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5C6A6F"/>
            </a:solidFill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Jan17</c:v>
                </c:pt>
                <c:pt idx="1">
                  <c:v>Feb17</c:v>
                </c:pt>
                <c:pt idx="2">
                  <c:v>Mar17</c:v>
                </c:pt>
                <c:pt idx="3">
                  <c:v>Apr17</c:v>
                </c:pt>
                <c:pt idx="4">
                  <c:v>May17</c:v>
                </c:pt>
                <c:pt idx="5">
                  <c:v>Jun17</c:v>
                </c:pt>
                <c:pt idx="6">
                  <c:v>Jul17</c:v>
                </c:pt>
                <c:pt idx="7">
                  <c:v>Aug17</c:v>
                </c:pt>
                <c:pt idx="8">
                  <c:v>Sep17</c:v>
                </c:pt>
                <c:pt idx="9">
                  <c:v>Oct17</c:v>
                </c:pt>
                <c:pt idx="10">
                  <c:v>Nov17</c:v>
                </c:pt>
                <c:pt idx="11">
                  <c:v>Dec17</c:v>
                </c:pt>
                <c:pt idx="12">
                  <c:v>Jan18</c:v>
                </c:pt>
                <c:pt idx="13">
                  <c:v>Feb18</c:v>
                </c:pt>
                <c:pt idx="14">
                  <c:v>Mar18</c:v>
                </c:pt>
                <c:pt idx="15">
                  <c:v>Apr18</c:v>
                </c:pt>
                <c:pt idx="16">
                  <c:v>May18</c:v>
                </c:pt>
                <c:pt idx="17">
                  <c:v>Jun18</c:v>
                </c:pt>
                <c:pt idx="18">
                  <c:v>Jul18</c:v>
                </c:pt>
                <c:pt idx="19">
                  <c:v>Aug18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800</c:v>
                </c:pt>
                <c:pt idx="1">
                  <c:v>1780</c:v>
                </c:pt>
                <c:pt idx="2">
                  <c:v>2682</c:v>
                </c:pt>
                <c:pt idx="3">
                  <c:v>2404</c:v>
                </c:pt>
                <c:pt idx="4">
                  <c:v>3700</c:v>
                </c:pt>
                <c:pt idx="5">
                  <c:v>3245</c:v>
                </c:pt>
                <c:pt idx="6">
                  <c:v>4026</c:v>
                </c:pt>
                <c:pt idx="7">
                  <c:v>4331</c:v>
                </c:pt>
                <c:pt idx="8">
                  <c:v>4285</c:v>
                </c:pt>
                <c:pt idx="9">
                  <c:v>4631</c:v>
                </c:pt>
                <c:pt idx="10">
                  <c:v>7544</c:v>
                </c:pt>
                <c:pt idx="11">
                  <c:v>5673</c:v>
                </c:pt>
                <c:pt idx="12">
                  <c:v>7269</c:v>
                </c:pt>
                <c:pt idx="13">
                  <c:v>6728</c:v>
                </c:pt>
                <c:pt idx="14">
                  <c:v>7211</c:v>
                </c:pt>
                <c:pt idx="15">
                  <c:v>6939</c:v>
                </c:pt>
                <c:pt idx="16">
                  <c:v>6873</c:v>
                </c:pt>
                <c:pt idx="17">
                  <c:v>6167</c:v>
                </c:pt>
                <c:pt idx="18">
                  <c:v>6292</c:v>
                </c:pt>
                <c:pt idx="19">
                  <c:v>6512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26-4D2D-9E1B-C8C3944799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Avg review score</c:v>
                </c:pt>
              </c:strCache>
            </c:strRef>
          </c:tx>
          <c:spPr>
            <a:ln w="25400" cap="flat">
              <a:solidFill>
                <a:srgbClr val="E882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823C"/>
              </a:solidFill>
              <a:ln w="9525" cap="flat">
                <a:solidFill>
                  <a:srgbClr val="E8823C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Jan17</c:v>
                </c:pt>
                <c:pt idx="1">
                  <c:v>Feb17</c:v>
                </c:pt>
                <c:pt idx="2">
                  <c:v>Mar17</c:v>
                </c:pt>
                <c:pt idx="3">
                  <c:v>Apr17</c:v>
                </c:pt>
                <c:pt idx="4">
                  <c:v>May17</c:v>
                </c:pt>
                <c:pt idx="5">
                  <c:v>Jun17</c:v>
                </c:pt>
                <c:pt idx="6">
                  <c:v>Jul17</c:v>
                </c:pt>
                <c:pt idx="7">
                  <c:v>Aug17</c:v>
                </c:pt>
                <c:pt idx="8">
                  <c:v>Sep17</c:v>
                </c:pt>
                <c:pt idx="9">
                  <c:v>Oct17</c:v>
                </c:pt>
                <c:pt idx="10">
                  <c:v>Nov17</c:v>
                </c:pt>
                <c:pt idx="11">
                  <c:v>Dec17</c:v>
                </c:pt>
                <c:pt idx="12">
                  <c:v>Jan18</c:v>
                </c:pt>
                <c:pt idx="13">
                  <c:v>Feb18</c:v>
                </c:pt>
                <c:pt idx="14">
                  <c:v>Mar18</c:v>
                </c:pt>
                <c:pt idx="15">
                  <c:v>Apr18</c:v>
                </c:pt>
                <c:pt idx="16">
                  <c:v>May18</c:v>
                </c:pt>
                <c:pt idx="17">
                  <c:v>Jun18</c:v>
                </c:pt>
                <c:pt idx="18">
                  <c:v>Jul18</c:v>
                </c:pt>
                <c:pt idx="19">
                  <c:v>Aug18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4.0549999999999997</c:v>
                </c:pt>
                <c:pt idx="1">
                  <c:v>4.0049999999999999</c:v>
                </c:pt>
                <c:pt idx="2">
                  <c:v>4.056</c:v>
                </c:pt>
                <c:pt idx="3">
                  <c:v>4.032</c:v>
                </c:pt>
                <c:pt idx="4">
                  <c:v>4.1239999999999997</c:v>
                </c:pt>
                <c:pt idx="5">
                  <c:v>4.13</c:v>
                </c:pt>
                <c:pt idx="6">
                  <c:v>4.157</c:v>
                </c:pt>
                <c:pt idx="7">
                  <c:v>4.2240000000000002</c:v>
                </c:pt>
                <c:pt idx="8">
                  <c:v>4.173</c:v>
                </c:pt>
                <c:pt idx="9">
                  <c:v>4.1059999999999999</c:v>
                </c:pt>
                <c:pt idx="10">
                  <c:v>3.8940000000000001</c:v>
                </c:pt>
                <c:pt idx="11">
                  <c:v>3.9980000000000002</c:v>
                </c:pt>
                <c:pt idx="12">
                  <c:v>4.0220000000000002</c:v>
                </c:pt>
                <c:pt idx="13">
                  <c:v>3.8119999999999998</c:v>
                </c:pt>
                <c:pt idx="14">
                  <c:v>3.734</c:v>
                </c:pt>
                <c:pt idx="15">
                  <c:v>4.1470000000000002</c:v>
                </c:pt>
                <c:pt idx="16">
                  <c:v>4.1840000000000002</c:v>
                </c:pt>
                <c:pt idx="17">
                  <c:v>4.2699999999999996</c:v>
                </c:pt>
                <c:pt idx="18">
                  <c:v>4.2480000000000002</c:v>
                </c:pt>
                <c:pt idx="19">
                  <c:v>4.2469999999999999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126-4D2D-9E1B-C8C3944799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43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0A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A343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FA0A6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8FA0A6"/>
                    </a:solidFill>
                    <a:latin typeface="Arial"/>
                  </a:rPr>
                  <a:t>Orders / month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343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0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5"/>
          <c:min val="1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FA0A6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8FA0A6"/>
                    </a:solidFill>
                    <a:latin typeface="Arial"/>
                  </a:rPr>
                  <a:t>Avg review score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343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0A6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solidFill>
          <a:srgbClr val="161C1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8FA0A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C1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 share of orders (%)</c:v>
                </c:pt>
              </c:strCache>
            </c:strRef>
          </c:tx>
          <c:spPr>
            <a:ln w="31750" cap="flat">
              <a:solidFill>
                <a:srgbClr val="3FB6A6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3FB6A6"/>
              </a:solidFill>
              <a:ln w="9525" cap="flat">
                <a:solidFill>
                  <a:srgbClr val="3FB6A6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Jan17</c:v>
                </c:pt>
                <c:pt idx="1">
                  <c:v>Feb17</c:v>
                </c:pt>
                <c:pt idx="2">
                  <c:v>Mar17</c:v>
                </c:pt>
                <c:pt idx="3">
                  <c:v>Apr17</c:v>
                </c:pt>
                <c:pt idx="4">
                  <c:v>May17</c:v>
                </c:pt>
                <c:pt idx="5">
                  <c:v>Jun17</c:v>
                </c:pt>
                <c:pt idx="6">
                  <c:v>Jul17</c:v>
                </c:pt>
                <c:pt idx="7">
                  <c:v>Aug17</c:v>
                </c:pt>
                <c:pt idx="8">
                  <c:v>Sep17</c:v>
                </c:pt>
                <c:pt idx="9">
                  <c:v>Oct17</c:v>
                </c:pt>
                <c:pt idx="10">
                  <c:v>Nov17</c:v>
                </c:pt>
                <c:pt idx="11">
                  <c:v>Dec17</c:v>
                </c:pt>
                <c:pt idx="12">
                  <c:v>Jan18</c:v>
                </c:pt>
                <c:pt idx="13">
                  <c:v>Feb18</c:v>
                </c:pt>
                <c:pt idx="14">
                  <c:v>Mar18</c:v>
                </c:pt>
                <c:pt idx="15">
                  <c:v>Apr18</c:v>
                </c:pt>
                <c:pt idx="16">
                  <c:v>May18</c:v>
                </c:pt>
                <c:pt idx="17">
                  <c:v>Jun18</c:v>
                </c:pt>
                <c:pt idx="18">
                  <c:v>Jul18</c:v>
                </c:pt>
                <c:pt idx="19">
                  <c:v>Aug18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0.13300000000000001</c:v>
                </c:pt>
                <c:pt idx="1">
                  <c:v>0.121</c:v>
                </c:pt>
                <c:pt idx="2">
                  <c:v>0.19600000000000001</c:v>
                </c:pt>
                <c:pt idx="3">
                  <c:v>0.82499999999999996</c:v>
                </c:pt>
                <c:pt idx="4">
                  <c:v>0.81799999999999995</c:v>
                </c:pt>
                <c:pt idx="5">
                  <c:v>1.3720000000000001</c:v>
                </c:pt>
                <c:pt idx="6">
                  <c:v>1.343</c:v>
                </c:pt>
                <c:pt idx="7">
                  <c:v>1.431</c:v>
                </c:pt>
                <c:pt idx="8">
                  <c:v>1.9279999999999999</c:v>
                </c:pt>
                <c:pt idx="9">
                  <c:v>2.0990000000000002</c:v>
                </c:pt>
                <c:pt idx="10">
                  <c:v>1.77</c:v>
                </c:pt>
                <c:pt idx="11">
                  <c:v>2.14</c:v>
                </c:pt>
                <c:pt idx="12">
                  <c:v>1.91</c:v>
                </c:pt>
                <c:pt idx="13">
                  <c:v>1.831</c:v>
                </c:pt>
                <c:pt idx="14">
                  <c:v>2.0419999999999998</c:v>
                </c:pt>
                <c:pt idx="15">
                  <c:v>2.427</c:v>
                </c:pt>
                <c:pt idx="16">
                  <c:v>2.86</c:v>
                </c:pt>
                <c:pt idx="17">
                  <c:v>3.0819999999999999</c:v>
                </c:pt>
                <c:pt idx="18">
                  <c:v>2.468</c:v>
                </c:pt>
                <c:pt idx="19">
                  <c:v>2.6920000000000002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0DA-4603-9E4C-F1CFE683FC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Benchmark floor (20%)</c:v>
                </c:pt>
              </c:strCache>
            </c:strRef>
          </c:tx>
          <c:spPr>
            <a:ln w="31750" cap="flat">
              <a:solidFill>
                <a:srgbClr val="5C6A6F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5C6A6F"/>
              </a:solidFill>
              <a:ln w="9525" cap="flat">
                <a:solidFill>
                  <a:srgbClr val="5C6A6F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Jan17</c:v>
                </c:pt>
                <c:pt idx="1">
                  <c:v>Feb17</c:v>
                </c:pt>
                <c:pt idx="2">
                  <c:v>Mar17</c:v>
                </c:pt>
                <c:pt idx="3">
                  <c:v>Apr17</c:v>
                </c:pt>
                <c:pt idx="4">
                  <c:v>May17</c:v>
                </c:pt>
                <c:pt idx="5">
                  <c:v>Jun17</c:v>
                </c:pt>
                <c:pt idx="6">
                  <c:v>Jul17</c:v>
                </c:pt>
                <c:pt idx="7">
                  <c:v>Aug17</c:v>
                </c:pt>
                <c:pt idx="8">
                  <c:v>Sep17</c:v>
                </c:pt>
                <c:pt idx="9">
                  <c:v>Oct17</c:v>
                </c:pt>
                <c:pt idx="10">
                  <c:v>Nov17</c:v>
                </c:pt>
                <c:pt idx="11">
                  <c:v>Dec17</c:v>
                </c:pt>
                <c:pt idx="12">
                  <c:v>Jan18</c:v>
                </c:pt>
                <c:pt idx="13">
                  <c:v>Feb18</c:v>
                </c:pt>
                <c:pt idx="14">
                  <c:v>Mar18</c:v>
                </c:pt>
                <c:pt idx="15">
                  <c:v>Apr18</c:v>
                </c:pt>
                <c:pt idx="16">
                  <c:v>May18</c:v>
                </c:pt>
                <c:pt idx="17">
                  <c:v>Jun18</c:v>
                </c:pt>
                <c:pt idx="18">
                  <c:v>Jul18</c:v>
                </c:pt>
                <c:pt idx="19">
                  <c:v>Aug18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20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  <c:pt idx="14">
                  <c:v>20</c:v>
                </c:pt>
                <c:pt idx="15">
                  <c:v>20</c:v>
                </c:pt>
                <c:pt idx="16">
                  <c:v>20</c:v>
                </c:pt>
                <c:pt idx="17">
                  <c:v>20</c:v>
                </c:pt>
                <c:pt idx="18">
                  <c:v>20</c:v>
                </c:pt>
                <c:pt idx="19">
                  <c:v>20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0DA-4603-9E4C-F1CFE683FC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43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0A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9525" cap="flat">
              <a:solidFill>
                <a:srgbClr val="2A343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FA0A6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8FA0A6"/>
                    </a:solidFill>
                    <a:latin typeface="Arial"/>
                  </a:rPr>
                  <a:t>% of month's orders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343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0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C1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8FA0A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C1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 purchase rate</c:v>
                </c:pt>
              </c:strCache>
            </c:strRef>
          </c:tx>
          <c:spPr>
            <a:solidFill>
              <a:srgbClr val="E882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3E0-4D73-8975-C78A48FC3E67}"/>
              </c:ext>
            </c:extLst>
          </c:dPt>
          <c:dPt>
            <c:idx val="1"/>
            <c:invertIfNegative val="0"/>
            <c:bubble3D val="0"/>
            <c:spPr>
              <a:solidFill>
                <a:srgbClr val="3FB6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3E0-4D73-8975-C78A48FC3E67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E9EDE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Late first order</c:v>
                </c:pt>
                <c:pt idx="1">
                  <c:v>On-time first order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2.5299999999999998</c:v>
                </c:pt>
                <c:pt idx="1">
                  <c:v>3.03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3E0-4D73-8975-C78A48FC3E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A343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9EDE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6"/>
          <c:min val="0"/>
        </c:scaling>
        <c:delete val="0"/>
        <c:axPos val="b"/>
        <c:majorGridlines>
          <c:spPr>
            <a:ln w="9525" cap="flat">
              <a:solidFill>
                <a:srgbClr val="2A34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2A343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0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C1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1C1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review score</c:v>
                </c:pt>
              </c:strCache>
            </c:strRef>
          </c:tx>
          <c:spPr>
            <a:solidFill>
              <a:srgbClr val="3FB6A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43-4F1E-8A91-45E7C0FD4EEE}"/>
              </c:ext>
            </c:extLst>
          </c:dPt>
          <c:dPt>
            <c:idx val="1"/>
            <c:invertIfNegative val="0"/>
            <c:bubble3D val="0"/>
            <c:spPr>
              <a:solidFill>
                <a:srgbClr val="5F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43-4F1E-8A91-45E7C0FD4EEE}"/>
              </c:ext>
            </c:extLst>
          </c:dPt>
          <c:dPt>
            <c:idx val="2"/>
            <c:invertIfNegative val="0"/>
            <c:bubble3D val="0"/>
            <c:spPr>
              <a:solidFill>
                <a:srgbClr val="E8C1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43-4F1E-8A91-45E7C0FD4EEE}"/>
              </c:ext>
            </c:extLst>
          </c:dPt>
          <c:dPt>
            <c:idx val="3"/>
            <c:invertIfNegative val="0"/>
            <c:bubble3D val="0"/>
            <c:spPr>
              <a:solidFill>
                <a:srgbClr val="E882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43-4F1E-8A91-45E7C0FD4EEE}"/>
              </c:ext>
            </c:extLst>
          </c:dPt>
          <c:dPt>
            <c:idx val="4"/>
            <c:invertIfNegative val="0"/>
            <c:bubble3D val="0"/>
            <c:spPr>
              <a:solidFill>
                <a:srgbClr val="D965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43-4F1E-8A91-45E7C0FD4EEE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E9EDE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Very
early</c:v>
                </c:pt>
                <c:pt idx="1">
                  <c:v>On
time</c:v>
                </c:pt>
                <c:pt idx="2">
                  <c:v>Slightly
late</c:v>
                </c:pt>
                <c:pt idx="3">
                  <c:v>Late</c:v>
                </c:pt>
                <c:pt idx="4">
                  <c:v>Very
late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4.2969999999999997</c:v>
                </c:pt>
                <c:pt idx="1">
                  <c:v>4.1059999999999999</c:v>
                </c:pt>
                <c:pt idx="2">
                  <c:v>2.9670000000000001</c:v>
                </c:pt>
                <c:pt idx="3">
                  <c:v>1.7410000000000001</c:v>
                </c:pt>
                <c:pt idx="4">
                  <c:v>1.7170000000000001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943-4F1E-8A91-45E7C0FD4E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43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FA0A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2A34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343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0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C1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1C1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 spread</c:v>
                </c:pt>
              </c:strCache>
            </c:strRef>
          </c:tx>
          <c:spPr>
            <a:solidFill>
              <a:srgbClr val="E882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21F-46DE-B369-9C09C2C3F790}"/>
              </c:ext>
            </c:extLst>
          </c:dPt>
          <c:dPt>
            <c:idx val="1"/>
            <c:invertIfNegative val="0"/>
            <c:bubble3D val="0"/>
            <c:spPr>
              <a:solidFill>
                <a:srgbClr val="5C6A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1F-46DE-B369-9C09C2C3F790}"/>
              </c:ext>
            </c:extLst>
          </c:dPt>
          <c:dPt>
            <c:idx val="2"/>
            <c:invertIfNegative val="0"/>
            <c:bubble3D val="0"/>
            <c:spPr>
              <a:solidFill>
                <a:srgbClr val="5C6A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21F-46DE-B369-9C09C2C3F790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E9EDE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Delivery delay</c:v>
                </c:pt>
                <c:pt idx="1">
                  <c:v>Seller (5th–95th pct)</c:v>
                </c:pt>
                <c:pt idx="2">
                  <c:v>Product category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2.58</c:v>
                </c:pt>
                <c:pt idx="1">
                  <c:v>1.1599999999999999</c:v>
                </c:pt>
                <c:pt idx="2">
                  <c:v>0.89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21F-46DE-B369-9C09C2C3F7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A343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9EDE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b"/>
        <c:majorGridlines>
          <c:spPr>
            <a:ln w="9525" cap="flat">
              <a:solidFill>
                <a:srgbClr val="2A34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2A343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0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C1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1C1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E882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DAC-47B1-96D5-B24630406E50}"/>
              </c:ext>
            </c:extLst>
          </c:dPt>
          <c:dPt>
            <c:idx val="1"/>
            <c:invertIfNegative val="0"/>
            <c:bubble3D val="0"/>
            <c:spPr>
              <a:solidFill>
                <a:srgbClr val="5C6A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DAC-47B1-96D5-B24630406E50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E9EDEE"/>
                    </a:solidFill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Carrier transit delay</c:v>
                </c:pt>
                <c:pt idx="1">
                  <c:v>Seller handoff delay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-0.3</c:v>
                </c:pt>
                <c:pt idx="1">
                  <c:v>-8.4000000000000005E-2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DAC-47B1-96D5-B24630406E5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43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9EDE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"/>
          <c:min val="-0.35"/>
        </c:scaling>
        <c:delete val="0"/>
        <c:axPos val="b"/>
        <c:majorGridlines>
          <c:spPr>
            <a:ln w="9525" cap="flat">
              <a:solidFill>
                <a:srgbClr val="2A34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2A343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0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C1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1C1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51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15544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9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Olist Growth &amp; Review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9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Diagnosis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20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order growth flattened, and why the review score isn't the reason.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4206240" cy="1600200"/>
          </a:xfrm>
          <a:prstGeom prst="rect">
            <a:avLst/>
          </a:prstGeom>
          <a:solidFill>
            <a:srgbClr val="161C1F"/>
          </a:solidFill>
          <a:ln w="12700">
            <a:solidFill>
              <a:srgbClr val="2A34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434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88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3%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452628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come from a repeat customer, every month — the benchmark for a marketplace this size is 20–30%.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074920" y="4434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99,441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495604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702552" y="4434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96,096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702552" y="495604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330184" y="4434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3,095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30184" y="495604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sellers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957816" y="4434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R$13.6M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957816" y="495604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merchandise value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Narender Kumar  ·  M.Sc. Mathematics, IIT Guwahati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DIAGNOSIS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didn’t stall because customers turned sour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order volume and average review score move almost in lockstep — review scores even improve through the back half of the window.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3977640"/>
          </a:xfrm>
          <a:prstGeom prst="rect">
            <a:avLst/>
          </a:prstGeom>
          <a:solidFill>
            <a:srgbClr val="161C1F"/>
          </a:solidFill>
          <a:ln w="12700">
            <a:solidFill>
              <a:srgbClr val="2A3438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777240" y="2331720"/>
          <a:ext cx="1060704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Sep–Oct 2018 excluded — a data-collection cutoff (16 and 4 orders), not a business signal.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DIAGNOSIS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culprit: almost nobody comes back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orders as a share of the month never breaks free of low single digits — across the platform's earliest months and its most mature ones alike.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3977640"/>
          </a:xfrm>
          <a:prstGeom prst="rect">
            <a:avLst/>
          </a:prstGeom>
          <a:solidFill>
            <a:srgbClr val="161C1F"/>
          </a:solidFill>
          <a:ln w="12700">
            <a:solidFill>
              <a:srgbClr val="2A3438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777240" y="2331720"/>
          <a:ext cx="1060704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ROOT CAUSE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late first order quietly kills the second 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77840" cy="4297680"/>
          </a:xfrm>
          <a:prstGeom prst="rect">
            <a:avLst/>
          </a:prstGeom>
          <a:solidFill>
            <a:srgbClr val="161C1F"/>
          </a:solidFill>
          <a:ln w="12700">
            <a:solidFill>
              <a:srgbClr val="2A3438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777240" y="2011680"/>
          <a:ext cx="51206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0" y="19202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“late” against </a:t>
            </a:r>
            <a:r>
              <a:rPr lang="en-US" sz="1400" i="1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r>
              <a:rPr lang="en-US" sz="140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order over-counts repeat customers, who simply get more chances to hit a late one.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292608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the test on the first order only isolates the real effect.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3657600"/>
            <a:ext cx="5212080" cy="1051560"/>
          </a:xfrm>
          <a:prstGeom prst="rect">
            <a:avLst/>
          </a:prstGeom>
          <a:solidFill>
            <a:srgbClr val="3A2D22"/>
          </a:solidFill>
          <a:ln w="15875">
            <a:solidFill>
              <a:srgbClr val="E882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3794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9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p = 0.026
</a:t>
            </a:r>
            <a:r>
              <a:rPr lang="en-US" sz="120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real, not sampling noise.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48920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small-looking gap on paper — at marketplace scale, it's the single most targeted lever available. Fix the first delivery, and the repeat-rate problem starts closing itself.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DRIVER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timing dwarfs every other score driver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 explanations for review score, tested side by side. Delay isn't just a factor — it's roughly 2× the swing of the next-largest 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577840" cy="4023360"/>
          </a:xfrm>
          <a:prstGeom prst="rect">
            <a:avLst/>
          </a:prstGeom>
          <a:solidFill>
            <a:srgbClr val="161C1F"/>
          </a:solidFill>
          <a:ln w="12700">
            <a:solidFill>
              <a:srgbClr val="2A34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 score by delivery-delay bucket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777240" y="2514600"/>
          <a:ext cx="51206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309360" y="2057400"/>
            <a:ext cx="5303520" cy="4023360"/>
          </a:xfrm>
          <a:prstGeom prst="rect">
            <a:avLst/>
          </a:prstGeom>
          <a:solidFill>
            <a:srgbClr val="161C1F"/>
          </a:solidFill>
          <a:ln w="12700">
            <a:solidFill>
              <a:srgbClr val="2A343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3796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Score-point spread explained by each factor</a:t>
            </a:r>
            <a:endParaRPr lang="en-US" sz="11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537960" y="2651760"/>
          <a:ext cx="48463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ROOT CAUSE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the carrier's clock, not the seller's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77840" cy="4297680"/>
          </a:xfrm>
          <a:prstGeom prst="rect">
            <a:avLst/>
          </a:prstGeom>
          <a:solidFill>
            <a:srgbClr val="161C1F"/>
          </a:solidFill>
          <a:ln w="12700">
            <a:solidFill>
              <a:srgbClr val="2A34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each delay type with review score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77240" y="228600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0" y="19202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transit time correlates with review score nearly 4× as strongly as seller handoff speed does.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30632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are, on average, getting orders to the carrier close to schedule — it's what happens after pickup that erodes trust.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4160520"/>
            <a:ext cx="5212080" cy="1417320"/>
          </a:xfrm>
          <a:prstGeom prst="rect">
            <a:avLst/>
          </a:prstGeom>
          <a:solidFill>
            <a:srgbClr val="1E2F2C"/>
          </a:solidFill>
          <a:ln w="15875">
            <a:solidFill>
              <a:srgbClr val="3FB6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29400" y="431596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9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
</a:t>
            </a:r>
            <a:r>
              <a:rPr lang="en-US" sz="120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SLAs and route-level tracking are the fixable lever — not another round of seller coaching.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moves, ranked by impact vs. effort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04672"/>
          </a:xfrm>
          <a:prstGeom prst="rect">
            <a:avLst/>
          </a:prstGeom>
          <a:solidFill>
            <a:srgbClr val="161C1F"/>
          </a:solidFill>
          <a:ln w="12700">
            <a:solidFill>
              <a:srgbClr val="2A34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6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733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at-risk first-time buyers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842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delay alerts + a win-back credit or discount for any customer whose first order is running late.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732520" y="170992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A2D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32520" y="17099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7099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effort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532888"/>
            <a:ext cx="11064240" cy="804672"/>
          </a:xfrm>
          <a:prstGeom prst="rect">
            <a:avLst/>
          </a:prstGeom>
          <a:solidFill>
            <a:srgbClr val="161C1F"/>
          </a:solidFill>
          <a:ln w="12700">
            <a:solidFill>
              <a:srgbClr val="2A34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32888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6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606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carrier SLAs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91693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contracts, add backup carriers, track on-time performance by carrier and route.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32520" y="26426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A2D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32520" y="26426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0195560" y="264261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effort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465576"/>
            <a:ext cx="11064240" cy="804672"/>
          </a:xfrm>
          <a:prstGeom prst="rect">
            <a:avLst/>
          </a:prstGeom>
          <a:solidFill>
            <a:srgbClr val="161C1F"/>
          </a:solidFill>
          <a:ln w="12700">
            <a:solidFill>
              <a:srgbClr val="2A34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465576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6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5387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seller performance program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384962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SLAs and support focused on the top-revenue seller tier first — top 20% of sellers drive 82.7% of revenue.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732520" y="357530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A331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732520" y="35753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C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impact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0195560" y="35753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effort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398264"/>
            <a:ext cx="11064240" cy="804672"/>
          </a:xfrm>
          <a:prstGeom prst="rect">
            <a:avLst/>
          </a:prstGeom>
          <a:solidFill>
            <a:srgbClr val="161C1F"/>
          </a:solidFill>
          <a:ln w="12700">
            <a:solidFill>
              <a:srgbClr val="2A34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398264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6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4714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E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pre-shipping funnel leak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78231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on orders stuck in invoiced / processing / created status (0.63% of all orders never reach a carrier).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732520" y="450799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0272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32520" y="45079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0195560" y="45079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effort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5330952"/>
            <a:ext cx="11064240" cy="566928"/>
          </a:xfrm>
          <a:prstGeom prst="rect">
            <a:avLst/>
          </a:prstGeom>
          <a:solidFill>
            <a:srgbClr val="12171A"/>
          </a:solidFill>
          <a:ln w="12700">
            <a:solidFill>
              <a:srgbClr val="2A343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33095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4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1508760" y="533095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 response-time &amp; category-level fixes — response time already matches average (72.9 vs 75.5 hrs); category effect size (0.89 pts) is the weakest driver.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TRACKING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to watch post-implementation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3950208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5C6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5C6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5C6A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of 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9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rate, on-time vs. late first order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8F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3.03% vs. 2.53%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8F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narrows toward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9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 on-time delivery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8F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corr. −0.30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8F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late carrier legs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9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review score by delay bucket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8F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4.30 → 1.72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8F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Late-bucket scores rise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9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stuck pre-shipping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8F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8F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toward 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9E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repeat-purchase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8F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8F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Steady upward trend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9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36422" y="3291840"/>
            <a:ext cx="3657600" cy="0"/>
          </a:xfrm>
          <a:prstGeom prst="line">
            <a:avLst/>
          </a:prstGeom>
          <a:noFill/>
          <a:ln w="12700">
            <a:solidFill>
              <a:srgbClr val="2A34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ED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Narender Kumar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537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Mathematics, IIT Guwahati 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9194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github.com/Narender-0     linkedin.com/in/chaliyanarender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775411" cy="329184"/>
          </a:xfrm>
          <a:prstGeom prst="roundRect">
            <a:avLst>
              <a:gd name="adj" fmla="val 50000"/>
            </a:avLst>
          </a:prstGeom>
          <a:ln w="12700">
            <a:solidFill>
              <a:srgbClr val="2A34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623560"/>
            <a:ext cx="7754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52651" y="5623560"/>
            <a:ext cx="775411" cy="329184"/>
          </a:xfrm>
          <a:prstGeom prst="roundRect">
            <a:avLst>
              <a:gd name="adj" fmla="val 50000"/>
            </a:avLst>
          </a:prstGeom>
          <a:ln w="12700">
            <a:solidFill>
              <a:srgbClr val="2A34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52651" y="5623560"/>
            <a:ext cx="7754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5222" y="5623560"/>
            <a:ext cx="694944" cy="329184"/>
          </a:xfrm>
          <a:prstGeom prst="roundRect">
            <a:avLst>
              <a:gd name="adj" fmla="val 50000"/>
            </a:avLst>
          </a:prstGeom>
          <a:ln w="12700">
            <a:solidFill>
              <a:srgbClr val="2A34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65222" y="5623560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7326" y="5623560"/>
            <a:ext cx="694944" cy="329184"/>
          </a:xfrm>
          <a:prstGeom prst="roundRect">
            <a:avLst>
              <a:gd name="adj" fmla="val 50000"/>
            </a:avLst>
          </a:prstGeom>
          <a:ln w="12700">
            <a:solidFill>
              <a:srgbClr val="2A34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97326" y="5623560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29430" y="5623560"/>
            <a:ext cx="1741018" cy="329184"/>
          </a:xfrm>
          <a:prstGeom prst="roundRect">
            <a:avLst>
              <a:gd name="adj" fmla="val 50000"/>
            </a:avLst>
          </a:prstGeom>
          <a:ln w="12700">
            <a:solidFill>
              <a:srgbClr val="2A34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29430" y="5623560"/>
            <a:ext cx="17410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07608" y="5623560"/>
            <a:ext cx="1499616" cy="329184"/>
          </a:xfrm>
          <a:prstGeom prst="roundRect">
            <a:avLst>
              <a:gd name="adj" fmla="val 50000"/>
            </a:avLst>
          </a:prstGeom>
          <a:ln w="12700">
            <a:solidFill>
              <a:srgbClr val="2A34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07608" y="562356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679</Words>
  <Application>Microsoft Office PowerPoint</Application>
  <PresentationFormat>Widescreen</PresentationFormat>
  <Paragraphs>111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Narender Kumar</cp:lastModifiedBy>
  <cp:revision>2</cp:revision>
  <dcterms:created xsi:type="dcterms:W3CDTF">2026-09-07T10:12:05Z</dcterms:created>
  <dcterms:modified xsi:type="dcterms:W3CDTF">2026-09-07T10:19:24Z</dcterms:modified>
</cp:coreProperties>
</file>