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631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6873</c:v>
                </c:pt>
                <c:pt idx="1">
                  <c:v>6167</c:v>
                </c:pt>
                <c:pt idx="2">
                  <c:v>6292</c:v>
                </c:pt>
                <c:pt idx="3">
                  <c:v>6512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58-4267-8133-B5BA5EE9A4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 rate</c:v>
                </c:pt>
              </c:strCache>
            </c:strRef>
          </c:tx>
          <c:spPr>
            <a:solidFill>
              <a:srgbClr val="B886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083-4410-861F-496D38B86C66}"/>
              </c:ext>
            </c:extLst>
          </c:dPt>
          <c:dPt>
            <c:idx val="1"/>
            <c:invertIfNegative val="0"/>
            <c:bubble3D val="0"/>
            <c:spPr>
              <a:solidFill>
                <a:srgbClr val="1A7A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083-4410-861F-496D38B86C66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631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Late first order</c:v>
                </c:pt>
                <c:pt idx="1">
                  <c:v>On-time first order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2.5299999999999998</c:v>
                </c:pt>
                <c:pt idx="1">
                  <c:v>3.03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083-4410-861F-496D38B86C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31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Effect size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A4D-4B24-9304-8D4584FF9F76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A4D-4B24-9304-8D4584FF9F76}"/>
              </c:ext>
            </c:extLst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A4D-4B24-9304-8D4584FF9F7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2631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Delivery delay</c:v>
                </c:pt>
                <c:pt idx="1">
                  <c:v>Seller (5th–95th pct)</c:v>
                </c:pt>
                <c:pt idx="2">
                  <c:v>Product category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2.58</c:v>
                </c:pt>
                <c:pt idx="1">
                  <c:v>1.1599999999999999</c:v>
                </c:pt>
                <c:pt idx="2">
                  <c:v>0.89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A4D-4B24-9304-8D4584FF9F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31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strength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8A2-45B1-BD50-95108A4C1335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8A2-45B1-BD50-95108A4C1335}"/>
              </c:ext>
            </c:extLst>
          </c:dPt>
          <c:dLbls>
            <c:numFmt formatCode="&quot;−&quot;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2631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Carrier delay</c:v>
                </c:pt>
                <c:pt idx="1">
                  <c:v>Seller handoff delay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</c:v>
                </c:pt>
                <c:pt idx="1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8A2-45B1-BD50-95108A4C13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1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0686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21295C">
              <a:alpha val="7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48840"/>
            <a:ext cx="8961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HAS OLIST'S GROWTH FLATTENED?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34290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diagnosis of the growth plateau — and a concrete action plan for leadership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Narender Kumar</a:t>
            </a:r>
            <a:r>
              <a:rPr lang="en-US" sz="140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IIT Guwahati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Analysis ·  Client Pitch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growth has stalled — and nobody knows why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394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order volume has been essentially flat for months, not growing</a:t>
            </a:r>
            <a:endParaRPr lang="en-US" sz="1550" dirty="0"/>
          </a:p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scores swing sharply by seller and by region</a:t>
            </a:r>
            <a:endParaRPr lang="en-US" sz="1550" dirty="0"/>
          </a:p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competing explanations on the table: logistics, seller quality, product category</a:t>
            </a:r>
            <a:endParaRPr lang="en-US" sz="1550" dirty="0"/>
          </a:p>
          <a:p>
            <a:pPr marL="342900" indent="-342900">
              <a:lnSpc>
                <a:spcPts val="2100"/>
              </a:lnSpc>
              <a:buSzPct val="100000"/>
              <a:buChar char="●"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question: is this actually hurting repeat business, or is it just noise?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783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Order Volume — 2018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309360" y="2148840"/>
          <a:ext cx="5394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309360" y="53949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hover ~6,100–6,900/month with no clear upward trend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Analysis -- Narender Kumar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7315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business is barely there — and delay makes it worse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291840" cy="2331720"/>
          </a:xfrm>
          <a:prstGeom prst="roundRect">
            <a:avLst>
              <a:gd name="adj" fmla="val 4706"/>
            </a:avLst>
          </a:prstGeom>
          <a:solidFill>
            <a:srgbClr val="CFE8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0574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3.00%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repeat-purchase rate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429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 20–30% industry benchmark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18288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rate: late vs. on-time first order</a:t>
            </a:r>
            <a:endParaRPr lang="en-US" sz="13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160520" y="2194560"/>
          <a:ext cx="74980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160520" y="5074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(chi-square p = 0.026) — a real effect, not noise.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the customer's first order only (not any order) to avoid the selection-bias trap where frequent buyers simply see more late deliveries — and confirmed independently via a second, simpler repeat-rate calculation.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Analysis— Narender Kumar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7315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delay dominates review score — far more than seller or category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in average review score explained by each factor (points, 5-pt scale)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2148840"/>
          <a:ext cx="73152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183880" y="2148840"/>
            <a:ext cx="3474720" cy="3794760"/>
          </a:xfrm>
          <a:prstGeom prst="roundRect">
            <a:avLst>
              <a:gd name="adj" fmla="val 2632"/>
            </a:avLst>
          </a:prstGeom>
          <a:solidFill>
            <a:srgbClr val="CFE8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412480" y="242316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2.9x</a:t>
            </a:r>
            <a:endParaRPr lang="en-US" sz="3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size of the next-strongest driver (seller quality)</a:t>
            </a:r>
            <a:endParaRPr lang="en-US" sz="3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drops sharply the moment an order is late at all — being even later barely moves it further.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Analysis — Narender Kumar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7315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the carrier, not the seller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of correlation with review score (both negative — more delay, lower score)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2148840"/>
          <a:ext cx="69494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863840" y="2148840"/>
            <a:ext cx="3794760" cy="3520440"/>
          </a:xfrm>
          <a:prstGeom prst="roundRect">
            <a:avLst>
              <a:gd name="adj" fmla="val 2597"/>
            </a:avLst>
          </a:prstGeom>
          <a:solidFill>
            <a:srgbClr val="21295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38160" y="242316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“Logistics” is too vague to act on.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transit time correlates almost 4x more strongly with review score than seller handoff speed.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makes carrier performance the specific, fixable root cause — not a seller-side problem.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Analysis— Narender Kumar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WHAT'S REALLY GOING ON?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325880"/>
            <a:ext cx="9875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flattened because </a:t>
            </a:r>
            <a:r>
              <a:rPr lang="en-US" sz="2700" b="1" dirty="0">
                <a:solidFill>
                  <a:srgbClr val="CFE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new-customer acquisition has plateaued</a:t>
            </a: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repeat customers are only ~3% of orders, too small a slice to be the cause. </a:t>
            </a:r>
            <a:r>
              <a:rPr lang="en-US" sz="2700" b="1" dirty="0">
                <a:solidFill>
                  <a:srgbClr val="CFE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delay</a:t>
            </a: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the dominant driver of poor reviews, and it's actively eroding the small repeat channel that exists. </a:t>
            </a:r>
            <a:r>
              <a:rPr lang="en-US" sz="2700" b="1" dirty="0">
                <a:solidFill>
                  <a:srgbClr val="CFE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Carrier performance</a:t>
            </a: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not seller fulfillment — is the specific, fixable root cause.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4709160"/>
            <a:ext cx="10607040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4709160"/>
            <a:ext cx="10058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sudden change in customer behavior — it's a plateau in acquisition, made worse by a fixable delivery problem.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moves, prioritized by impact vs. effort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154680" cy="2080260"/>
          </a:xfrm>
          <a:prstGeom prst="rect">
            <a:avLst/>
          </a:prstGeom>
          <a:solidFill>
            <a:srgbClr val="EAF6EE"/>
          </a:solidFill>
          <a:ln/>
        </p:spPr>
      </p:sp>
      <p:sp>
        <p:nvSpPr>
          <p:cNvPr id="5" name="Shape 3"/>
          <p:cNvSpPr/>
          <p:nvPr/>
        </p:nvSpPr>
        <p:spPr>
          <a:xfrm>
            <a:off x="3703320" y="1691640"/>
            <a:ext cx="3154680" cy="2080260"/>
          </a:xfrm>
          <a:prstGeom prst="rect">
            <a:avLst/>
          </a:prstGeom>
          <a:solidFill>
            <a:srgbClr val="CFE8F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771900"/>
            <a:ext cx="3154680" cy="20802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3703320" y="3771900"/>
            <a:ext cx="3154680" cy="2080260"/>
          </a:xfrm>
          <a:prstGeom prst="rect">
            <a:avLst/>
          </a:prstGeom>
          <a:solidFill>
            <a:srgbClr val="FBEFE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771900"/>
            <a:ext cx="6309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1691640"/>
            <a:ext cx="0" cy="41605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FILL-INS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 rot="16200000">
            <a:off x="457200" y="24917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↑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5961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85239" y="2064258"/>
            <a:ext cx="502920" cy="50292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85239" y="206425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08983" y="2189074"/>
            <a:ext cx="502920" cy="50292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08983" y="218907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559052" y="3603650"/>
            <a:ext cx="502920" cy="50292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559052" y="36036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432865" y="4976622"/>
            <a:ext cx="502920" cy="502920"/>
          </a:xfrm>
          <a:prstGeom prst="ellipse">
            <a:avLst/>
          </a:prstGeom>
          <a:solidFill>
            <a:srgbClr val="6B7A8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32865" y="497662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78040" y="17373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780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17099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at-risk first-time buyers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19933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delay alerts + win-back offers for late first orders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78040" y="27889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7804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0" y="27614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carrier SLAs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680960" y="30449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contracts / add backup carriers by route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178040" y="38404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7804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680960" y="38130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seller performance program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680960" y="40965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quality support on the top-revenue seller tier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78040" y="4892040"/>
            <a:ext cx="384048" cy="384048"/>
          </a:xfrm>
          <a:prstGeom prst="ellipse">
            <a:avLst/>
          </a:prstGeom>
          <a:solidFill>
            <a:srgbClr val="6B7A8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7804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680960" y="48646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pre-shipping funnel leak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680960" y="51480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orders stuck before ever reaching a carrier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Response-time and category-level fixes were investigated and ruled out — deprioritized, not pursued.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SUCCESS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to track post-implementation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55648"/>
            <a:ext cx="11292840" cy="8412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8366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28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Repeat-purchase rate: on-time vs. late first order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828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3.03% vs. 2.53%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509760" y="1828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narrows toward 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7249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6700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on-time delivery rate, by route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670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Corr. w/ score: −0.30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509760" y="26700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late carrier legs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438144"/>
            <a:ext cx="11292840" cy="8412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51129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 score by delay bucket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51129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4.30 → 1.72 (Early → Very Late)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509760" y="351129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Late-bucket scores rise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4074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35254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stuck pre-shipping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35254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0.63%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509760" y="435254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toward 0%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5120640"/>
            <a:ext cx="11292840" cy="8412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524865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325880" y="519379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repeat-purchase rate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519379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3.00% (benchmark ~20–30%)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509760" y="51937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upward trend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Analysis— Narender Kumar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two moves: a carrier-SLA renegotiation, and a recovery program for customers hit by a late first order.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00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target the two findings with the clearest, most fixable root cause — and the most direct path back to growth.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212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Narender Kumar   |   github.com/Narender-0   |   linkedin.com/in/chaliyanarender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712</Words>
  <Application>Microsoft Office PowerPoint</Application>
  <PresentationFormat>Widescreen</PresentationFormat>
  <Paragraphs>108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Narender Kumar</cp:lastModifiedBy>
  <cp:revision>2</cp:revision>
  <dcterms:created xsi:type="dcterms:W3CDTF">2026-08-30T18:32:56Z</dcterms:created>
  <dcterms:modified xsi:type="dcterms:W3CDTF">2026-09-07T12:07:39Z</dcterms:modified>
</cp:coreProperties>
</file>